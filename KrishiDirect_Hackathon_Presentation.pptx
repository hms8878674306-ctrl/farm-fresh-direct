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768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 judges! Welcome to our KrishiDirect presentation. We are excited to present our direct farm-to-consumer digital marketplace built during this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When researching local agricultural markets, we noticed two huge problems: farmers are forced into middleman exploitation because existing software requires too much typing, and consumers lose out on fair deals.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architecture is built edge-first. By hosting our server functions on Cloudflare Workers via TanStack React Start, our client never directly talks to the Gemini API key, ensuring max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look at the actual code in FarmerVoiceListing.tsx. The parseListingSpeech function converts raw speech transcripts directly into form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farmerDecide function is the core of our peer-to-peer negotiation. It ensures farmers get fair revenue while allowing buyers to negotiate discounts.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you can see askGeminiServer. Notice how we pass the system instruction with real-time inventory and enable googleSearch grounding.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Firestore architecture uses real-time snapshot listeners. When a farmer clicks counter or accept in their dashboard, the buyer sees it appear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benchmarked our production build. With FCP under 300ms and client-side voice parsing running in just 4ms, the user experience feels instantaneous.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Judges, you can test the entire end-to-end user journey in less than 2 minutes using these 4 steps on localhost:8080.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faced real technical roadblocks during development. Resolving key CORS edge issues and cart state sync made our app resilient and production-ready.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Looking ahead, we plan to implement offline PWA capabilities and WhatsApp order notifications so even farmers with basic connectivity can stay informed.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so much for your time and attention! We welcome any questions about our architecture, code, or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303480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4D3E"/>
                </a:solidFill>
              </a:defRPr>
            </a:pPr>
            <a:r>
              <a:rPr dirty="0"/>
              <a:t> </a:t>
            </a:r>
            <a:r>
              <a:rPr dirty="0" err="1"/>
              <a:t>KrishiDirect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D20"/>
                </a:solidFill>
              </a:defRPr>
            </a:pPr>
            <a:r>
              <a:t>Direct Farm-to-Consumer Marketplace with AI Bargaining &amp; Regional Voice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4484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6E78"/>
                </a:solidFill>
              </a:defRPr>
            </a:pPr>
            <a:r>
              <a:rPr sz="2000" b="1" dirty="0"/>
              <a:t>A full-stack hackathon project built by students to eliminate agricultural middlemen using Edge Server Functions, Gemini 3.5 Flash, Firebase Real-Time </a:t>
            </a:r>
            <a:r>
              <a:rPr sz="2000" b="1" dirty="0" err="1"/>
              <a:t>Firestore</a:t>
            </a:r>
            <a:r>
              <a:rPr sz="2000" b="1" dirty="0"/>
              <a:t>, and Web Speech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1828800" cy="457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95788" y="4800600"/>
            <a:ext cx="178042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rPr sz="1200" dirty="0"/>
              <a:t>React 19 + </a:t>
            </a:r>
            <a:r>
              <a:rPr sz="1200" dirty="0" err="1"/>
              <a:t>TanStack</a:t>
            </a:r>
            <a:r>
              <a:rPr sz="1200" dirty="0"/>
              <a:t> 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4754880"/>
            <a:ext cx="1828800" cy="457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5021" y="4800600"/>
            <a:ext cx="17538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rPr sz="1200" dirty="0"/>
              <a:t>Cloudflare Workers 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754880"/>
            <a:ext cx="1828800" cy="457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11032" y="4800600"/>
            <a:ext cx="16137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rPr sz="1200" dirty="0"/>
              <a:t>Firebase Real-Time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79" y="4754880"/>
            <a:ext cx="1828800" cy="457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2555" y="4800600"/>
            <a:ext cx="12426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rPr sz="1200" dirty="0"/>
              <a:t>Gemini 3.5 Flash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754880"/>
            <a:ext cx="1828800" cy="457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35729" y="4800600"/>
            <a:ext cx="12282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B4D3E"/>
                </a:solidFill>
              </a:defRPr>
            </a:pPr>
            <a:r>
              <a:rPr sz="1200" dirty="0"/>
              <a:t>Web Speech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The Real-World Challenge &amp; Our Hackathon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5285232" cy="5066268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rPr dirty="0"/>
              <a:t>❌ The Middleman &amp; Literacy Barrier</a:t>
            </a:r>
          </a:p>
          <a:p>
            <a:pPr>
              <a:spcBef>
                <a:spcPts val="1000"/>
              </a:spcBef>
              <a:defRPr sz="1200">
                <a:solidFill>
                  <a:srgbClr val="1A1D20"/>
                </a:solidFill>
              </a:defRPr>
            </a:pPr>
            <a:r>
              <a:rPr sz="2000" dirty="0"/>
              <a:t>• Farmer Exploitation: Middlemen take 30-40% profit margins, keeping local farmers underpaid.</a:t>
            </a:r>
          </a:p>
          <a:p>
            <a:pPr>
              <a:spcBef>
                <a:spcPts val="1000"/>
              </a:spcBef>
              <a:defRPr sz="1200">
                <a:solidFill>
                  <a:srgbClr val="1A1D20"/>
                </a:solidFill>
              </a:defRPr>
            </a:pPr>
            <a:r>
              <a:rPr sz="2000" dirty="0"/>
              <a:t>• High Smartphone Tech-Barrier: Farmers in India struggle with complex multi-step mobile apps and typing lengthy crop names.</a:t>
            </a:r>
          </a:p>
          <a:p>
            <a:pPr>
              <a:spcBef>
                <a:spcPts val="1000"/>
              </a:spcBef>
              <a:defRPr sz="1200">
                <a:solidFill>
                  <a:srgbClr val="1A1D20"/>
                </a:solidFill>
              </a:defRPr>
            </a:pPr>
            <a:r>
              <a:rPr sz="2000" dirty="0"/>
              <a:t>• Fixed Retail Prices for Buyers: Consumers pay inflated city store prices with zero room for mandi-style volume bargaining.</a:t>
            </a:r>
          </a:p>
          <a:p>
            <a:pPr>
              <a:spcBef>
                <a:spcPts val="1000"/>
              </a:spcBef>
              <a:defRPr sz="1200">
                <a:solidFill>
                  <a:srgbClr val="1A1D20"/>
                </a:solidFill>
              </a:defRPr>
            </a:pPr>
            <a:r>
              <a:rPr sz="2000" dirty="0"/>
              <a:t>• Language &amp; Dialect Gap: Most e-commerce platforms cater exclusively to English/Hindi speakers, ignoring regional accents.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463040"/>
            <a:ext cx="5285232" cy="5066268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4D3E"/>
                </a:solidFill>
              </a:defRPr>
            </a:pPr>
            <a:r>
              <a:rPr dirty="0"/>
              <a:t>🌱 The </a:t>
            </a:r>
            <a:r>
              <a:rPr dirty="0" err="1"/>
              <a:t>KrishiDirect</a:t>
            </a:r>
            <a:r>
              <a:rPr dirty="0"/>
              <a:t> Student Solution</a:t>
            </a:r>
          </a:p>
          <a:p>
            <a:pPr>
              <a:spcBef>
                <a:spcPts val="1000"/>
              </a:spcBef>
              <a:defRPr sz="1200">
                <a:solidFill>
                  <a:srgbClr val="1A1D20"/>
                </a:solidFill>
              </a:defRPr>
            </a:pPr>
            <a:r>
              <a:rPr sz="2000" dirty="0"/>
              <a:t>• Zero-Typing Voice Listing: Farmers tap one button and speak in local language (e.g. '</a:t>
            </a:r>
            <a:r>
              <a:rPr sz="2000" dirty="0" err="1"/>
              <a:t>Tamatar</a:t>
            </a:r>
            <a:r>
              <a:rPr sz="2000" dirty="0"/>
              <a:t> price 45 stock 20').</a:t>
            </a:r>
          </a:p>
          <a:p>
            <a:pPr>
              <a:spcBef>
                <a:spcPts val="1000"/>
              </a:spcBef>
              <a:defRPr sz="1200">
                <a:solidFill>
                  <a:srgbClr val="1A1D20"/>
                </a:solidFill>
              </a:defRPr>
            </a:pPr>
            <a:r>
              <a:rPr sz="2000" dirty="0"/>
              <a:t>• Automated AI Bargaining (</a:t>
            </a:r>
            <a:r>
              <a:rPr sz="2000" dirty="0" err="1"/>
              <a:t>farmerDecide</a:t>
            </a:r>
            <a:r>
              <a:rPr sz="2000" dirty="0"/>
              <a:t>): Real-time negotiation engine simulates farmer pricing boundaries while protecting farmer cost floor (85%).</a:t>
            </a:r>
          </a:p>
          <a:p>
            <a:pPr>
              <a:spcBef>
                <a:spcPts val="1000"/>
              </a:spcBef>
              <a:defRPr sz="1200">
                <a:solidFill>
                  <a:srgbClr val="1A1D20"/>
                </a:solidFill>
              </a:defRPr>
            </a:pPr>
            <a:r>
              <a:rPr sz="2000" dirty="0"/>
              <a:t>• Multilingual AI Assistant (</a:t>
            </a:r>
            <a:r>
              <a:rPr sz="2000" dirty="0" err="1"/>
              <a:t>KrishiMitra</a:t>
            </a:r>
            <a:r>
              <a:rPr sz="2000" dirty="0"/>
              <a:t>): Gemini 3.5 Flash powered bot answers crop questions in native Indian scripts.</a:t>
            </a:r>
          </a:p>
          <a:p>
            <a:pPr>
              <a:spcBef>
                <a:spcPts val="1000"/>
              </a:spcBef>
              <a:defRPr sz="1200">
                <a:solidFill>
                  <a:srgbClr val="1A1D20"/>
                </a:solidFill>
              </a:defRPr>
            </a:pPr>
            <a:r>
              <a:rPr sz="2000" dirty="0"/>
              <a:t>• Real-Time Peer-to-Peer Order Flow: Instant </a:t>
            </a:r>
            <a:r>
              <a:rPr sz="2000" dirty="0" err="1"/>
              <a:t>Firestore</a:t>
            </a:r>
            <a:r>
              <a:rPr sz="2000" dirty="0"/>
              <a:t> synchronization updates orders and chats live on buyer &amp; farmer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End-to-End Edge 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463040"/>
            <a:ext cx="3493008" cy="5117564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108960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800" dirty="0"/>
              <a:t>1. Frontend Layer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React 19 Engine: Modern concurrent UI with ultra-fast state updates.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TanStack</a:t>
            </a:r>
            <a:r>
              <a:rPr sz="2000" dirty="0"/>
              <a:t> Router: Type-safe client routing with search parameter validation.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Web Speech API: Client-side voice recognition in Chrome/Edge.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Tailwind CSS v4: Custom responsive layout and mobile UI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463040"/>
            <a:ext cx="3374136" cy="5117564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3108960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400" dirty="0"/>
              <a:t>2. Cloudflare Edge Layer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TanStack</a:t>
            </a:r>
            <a:r>
              <a:rPr sz="2000" dirty="0"/>
              <a:t> React Start: Server-side rendering and edge server functions.</a:t>
            </a:r>
            <a:r>
              <a:rPr lang="en-US" sz="2000" dirty="0"/>
              <a:t>         </a:t>
            </a:r>
            <a:r>
              <a:rPr sz="2000" dirty="0"/>
              <a:t>• </a:t>
            </a:r>
            <a:r>
              <a:rPr sz="2000" dirty="0" err="1"/>
              <a:t>askGeminiServer</a:t>
            </a:r>
            <a:r>
              <a:rPr sz="2000" dirty="0"/>
              <a:t> Function: POST endpoint executing on Cloudflare Workers.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Wrangler Deployment: Distributed across global edge locations for ~45ms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511296" cy="5117564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57616" y="1327883"/>
            <a:ext cx="3200400" cy="5057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800" dirty="0"/>
              <a:t>3. Cloud &amp; AI Services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Google Gemini 3.5 Flash: Generative AI model with search grounding tool.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Firebase </a:t>
            </a:r>
            <a:r>
              <a:rPr sz="2000" dirty="0" err="1"/>
              <a:t>Firestore</a:t>
            </a:r>
            <a:r>
              <a:rPr sz="2000" dirty="0"/>
              <a:t> DB: NoSQL database with WebSocket </a:t>
            </a:r>
            <a:r>
              <a:rPr sz="2000" dirty="0" err="1"/>
              <a:t>onSnapshot</a:t>
            </a:r>
            <a:r>
              <a:rPr sz="2000" dirty="0"/>
              <a:t> sync.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Firebase Auth: Anonymous and Google Provider authentication.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Real-Time Store Context: Live products injected directly into prompt.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Voice → Text → Structured Crop Listing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63040"/>
            <a:ext cx="4187952" cy="5394960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53896"/>
            <a:ext cx="3931920" cy="518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400" dirty="0"/>
              <a:t>🎙️ How Voice Listing Works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Multilingual Recognition: Captures spoken audio in Hindi (hi-IN), Marathi (</a:t>
            </a:r>
            <a:r>
              <a:rPr sz="2000" dirty="0" err="1"/>
              <a:t>mr</a:t>
            </a:r>
            <a:r>
              <a:rPr sz="2000" dirty="0"/>
              <a:t>-IN), and Indian English.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Word-to-Number Mapping: Converts spoken words ('</a:t>
            </a:r>
            <a:r>
              <a:rPr sz="2000" dirty="0" err="1"/>
              <a:t>एक</a:t>
            </a:r>
            <a:r>
              <a:rPr sz="2000" dirty="0"/>
              <a:t>', '</a:t>
            </a:r>
            <a:r>
              <a:rPr sz="2000" dirty="0" err="1"/>
              <a:t>दस</a:t>
            </a:r>
            <a:r>
              <a:rPr sz="2000" dirty="0"/>
              <a:t>', '</a:t>
            </a:r>
            <a:r>
              <a:rPr sz="2000" dirty="0" err="1"/>
              <a:t>पचास</a:t>
            </a:r>
            <a:r>
              <a:rPr sz="2000" dirty="0"/>
              <a:t>') to numeric digits (1, 10, 50).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Crop Alias Lookup: Identifies spoken crop variations and normalizes to standard database strings.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Automatic Input Allocation: Allocates 1st number to Price (₹/kg) and 2nd number to Available Stock.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6400800" cy="475488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66360" y="1554480"/>
            <a:ext cx="345479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Consolas"/>
              </a:defRPr>
            </a:pPr>
            <a:r>
              <a:rPr lang="en-US" dirty="0"/>
              <a:t>  </a:t>
            </a:r>
            <a:r>
              <a:rPr dirty="0"/>
              <a:t>// </a:t>
            </a:r>
            <a:r>
              <a:rPr dirty="0" err="1"/>
              <a:t>FarmerVoiceListing.tsx</a:t>
            </a:r>
            <a:r>
              <a:rPr dirty="0"/>
              <a:t> (Parser Implementation)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828800"/>
            <a:ext cx="6126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CE1E6"/>
                </a:solidFill>
                <a:latin typeface="Consolas"/>
              </a:defRPr>
            </a:pPr>
            <a:r>
              <a:t>// Extract numbers from spoken transcript</a:t>
            </a:r>
            <a:br/>
            <a:r>
              <a:t>function getNumbers(text: string) {</a:t>
            </a:r>
            <a:br/>
            <a:r>
              <a:t>  const found: number[] = [];</a:t>
            </a:r>
            <a:br/>
            <a:r>
              <a:t>  const digitMatches = text.match(/\d+(?:\.\d+)?/g) || [];</a:t>
            </a:r>
            <a:br/>
            <a:r>
              <a:t>  digitMatches.forEach((m) =&gt; found.push(Number(m)));</a:t>
            </a:r>
            <a:br/>
            <a:br/>
            <a:r>
              <a:t>  text.split(/\s+/).forEach((word) =&gt; {</a:t>
            </a:r>
            <a:br/>
            <a:r>
              <a:t>    const val = wordNumbers[word.replace(/[.,]/g, "")];</a:t>
            </a:r>
            <a:br/>
            <a:r>
              <a:t>    if (val) found.push(val);</a:t>
            </a:r>
            <a:br/>
            <a:r>
              <a:t>  });</a:t>
            </a:r>
            <a:br/>
            <a:r>
              <a:t>  return found.filter(Number.isFinite);</a:t>
            </a:r>
            <a:br/>
            <a:r>
              <a:t>}</a:t>
            </a:r>
            <a:br/>
            <a:br/>
            <a:r>
              <a:t>// Parse transcript into structured listing</a:t>
            </a:r>
            <a:br/>
            <a:r>
              <a:t>function parseListingSpeech(raw: string) {</a:t>
            </a:r>
            <a:br/>
            <a:r>
              <a:t>  const text = raw.toLowerCase();</a:t>
            </a:r>
            <a:br/>
            <a:r>
              <a:t>  const numbers = getNumbers(text);</a:t>
            </a:r>
            <a:br/>
            <a:r>
              <a:t>  const values: { name?: string; price?: string; stock?: string } = {};</a:t>
            </a:r>
            <a:br/>
            <a:br/>
            <a:r>
              <a:t>  values.price = numbers[0] ? String(numbers[0]) : undefined;</a:t>
            </a:r>
            <a:br/>
            <a:r>
              <a:t>  values.stock = numbers[1] ? String(numbers[1]) : undefined;</a:t>
            </a:r>
            <a:br/>
            <a:br/>
            <a:r>
              <a:t>  const alias = Object.keys(cropAliases).find((k) =&gt; text.includes(k));</a:t>
            </a:r>
            <a:br/>
            <a:r>
              <a:t>  if (alias) values.name = cropAliases[alias];</a:t>
            </a:r>
            <a:br/>
            <a:r>
              <a:t>  return values;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Automated Bargaining Logic — farmerDecide()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4279392" cy="5394960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35608"/>
            <a:ext cx="3931920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400" dirty="0"/>
              <a:t>🤝 Negotiation Policy Engine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Listed Price (Base): Standard product price set by the farmer (e.g. ₹50/kg).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Floor Limit (85%): Minimum acceptable price for volume purchases (e.g. ₹42.50).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Hard Floor (60%): Cost boundary limit. Offers below 60% are REJECTED to prevent loss.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Bulk Threshold (qty ≥ 5): Offers ≥ 85% with 5+ units trigger an instant ACCEPT and seal the deal.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endParaRPr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6400800" cy="475488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66360" y="1554480"/>
            <a:ext cx="6126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Consolas"/>
              </a:defRPr>
            </a:pPr>
            <a:r>
              <a:t>// src/routes/chat.tsx (Bargaining Logic)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828800"/>
            <a:ext cx="6126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CE1E6"/>
                </a:solidFill>
                <a:latin typeface="Consolas"/>
              </a:defRPr>
            </a:pPr>
            <a:r>
              <a:t>function farmerDecide(basePrice: number, offerPrice: number, qty: number) {</a:t>
            </a:r>
            <a:br/>
            <a:r>
              <a:t>  const floor = Math.round(basePrice * 0.85);</a:t>
            </a:r>
            <a:br/>
            <a:r>
              <a:t>  const hardFloor = Math.round(basePrice * 0.6);</a:t>
            </a:r>
            <a:br/>
            <a:br/>
            <a:r>
              <a:t>  // 1. Below cost limit -&gt; Reject</a:t>
            </a:r>
            <a:br/>
            <a:r>
              <a:t>  if (offerPrice &lt; hardFloor) {</a:t>
            </a:r>
            <a:br/>
            <a:r>
              <a:t>    return {</a:t>
            </a:r>
            <a:br/>
            <a:r>
              <a:t>      decision: "reject" as const,</a:t>
            </a:r>
            <a:br/>
            <a:r>
              <a:t>      price: floor,</a:t>
            </a:r>
            <a:br/>
            <a:r>
              <a:t>      reason: `Sorry, I can't go below ₹${floor}/unit — that's my cost 🙏`</a:t>
            </a:r>
            <a:br/>
            <a:r>
              <a:t>    };</a:t>
            </a:r>
            <a:br/>
            <a:r>
              <a:t>  }</a:t>
            </a:r>
            <a:br/>
            <a:br/>
            <a:r>
              <a:t>  // 2. Fair offer + Bulk quantity -&gt; Accept Deal</a:t>
            </a:r>
            <a:br/>
            <a:r>
              <a:t>  if (offerPrice &gt;= floor &amp;&amp; qty &gt;= 5) {</a:t>
            </a:r>
            <a:br/>
            <a:r>
              <a:t>    return {</a:t>
            </a:r>
            <a:br/>
            <a:r>
              <a:t>      decision: "accept" as const,</a:t>
            </a:r>
            <a:br/>
            <a:r>
              <a:t>      price: offerPrice,</a:t>
            </a:r>
            <a:br/>
            <a:r>
              <a:t>      reason: `Done! ₹${offerPrice} for ${qty} units. Deal sealed 🤝`</a:t>
            </a:r>
            <a:br/>
            <a:r>
              <a:t>    };</a:t>
            </a:r>
            <a:br/>
            <a:r>
              <a:t>  }</a:t>
            </a:r>
            <a:br/>
            <a:br/>
            <a:r>
              <a:t>  // 3. Low volume or lower price -&gt; Counter-Offer</a:t>
            </a:r>
            <a:br/>
            <a:r>
              <a:t>  const mid = Math.max(floor, Math.round((offerPrice + basePrice) / 2));</a:t>
            </a:r>
            <a:br/>
            <a:r>
              <a:t>  return {</a:t>
            </a:r>
            <a:br/>
            <a:r>
              <a:t>    decision: "counter" as const,</a:t>
            </a:r>
            <a:br/>
            <a:r>
              <a:t>    price: mid,</a:t>
            </a:r>
            <a:br/>
            <a:r>
              <a:t>    reason: `Best I can do is ₹${mid}/unit. Quality is premium 🌿`</a:t>
            </a:r>
            <a:br/>
            <a:r>
              <a:t>  };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KrishiMitra: Gemini 3.5 Edge Server 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463040"/>
            <a:ext cx="4233672" cy="5394960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9160" y="1463040"/>
            <a:ext cx="3931920" cy="548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400" dirty="0"/>
              <a:t>🤖 Multilingual AI Chatbot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TanStack</a:t>
            </a:r>
            <a:r>
              <a:rPr sz="2000" dirty="0"/>
              <a:t> </a:t>
            </a:r>
            <a:r>
              <a:rPr sz="2000" dirty="0" err="1"/>
              <a:t>createServerFn</a:t>
            </a:r>
            <a:r>
              <a:rPr sz="2000" dirty="0"/>
              <a:t>: Runs exclusively on backend/edge node to protect GEMINI_API_KEY.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Inventory Context Injection: Real-time products &amp; farmer listings are compiled directly into the system prompt.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Google Search Grounding: Configured with tools: [{ </a:t>
            </a:r>
            <a:r>
              <a:rPr sz="2000" dirty="0" err="1"/>
              <a:t>googleSearch</a:t>
            </a:r>
            <a:r>
              <a:rPr sz="2000" dirty="0"/>
              <a:t>: {} }] for live agricultural market data.</a:t>
            </a:r>
          </a:p>
          <a:p>
            <a:pPr>
              <a:spcBef>
                <a:spcPts val="800"/>
              </a:spcBef>
              <a:defRPr sz="1100">
                <a:solidFill>
                  <a:srgbClr val="1A1D20"/>
                </a:solidFill>
              </a:defRPr>
            </a:pPr>
            <a:r>
              <a:rPr sz="2000" dirty="0"/>
              <a:t>• Regional Script Support: Responds natively in Devanagari, Tamil, Kannada, or English based on user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6550152" cy="539496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35752" y="1463040"/>
            <a:ext cx="6126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Consolas"/>
              </a:defRPr>
            </a:pPr>
            <a:r>
              <a:rPr dirty="0"/>
              <a:t>// </a:t>
            </a:r>
            <a:r>
              <a:rPr dirty="0" err="1"/>
              <a:t>src</a:t>
            </a:r>
            <a:r>
              <a:rPr dirty="0"/>
              <a:t>/lib/</a:t>
            </a:r>
            <a:r>
              <a:rPr dirty="0" err="1"/>
              <a:t>gemini.ts</a:t>
            </a:r>
            <a:r>
              <a:rPr dirty="0"/>
              <a:t> (</a:t>
            </a:r>
            <a:r>
              <a:rPr dirty="0" err="1"/>
              <a:t>TanStack</a:t>
            </a:r>
            <a:r>
              <a:rPr dirty="0"/>
              <a:t> Server </a:t>
            </a:r>
            <a:r>
              <a:rPr dirty="0" err="1"/>
              <a:t>Fn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1036" y="1673352"/>
            <a:ext cx="6126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CE1E6"/>
                </a:solidFill>
                <a:latin typeface="Consolas"/>
              </a:defRPr>
            </a:pPr>
            <a:r>
              <a:rPr dirty="0"/>
              <a:t>export const </a:t>
            </a:r>
            <a:r>
              <a:rPr dirty="0" err="1"/>
              <a:t>askGeminiServer</a:t>
            </a:r>
            <a:r>
              <a:rPr dirty="0"/>
              <a:t> = </a:t>
            </a:r>
            <a:r>
              <a:rPr dirty="0" err="1"/>
              <a:t>createServerFn</a:t>
            </a:r>
            <a:r>
              <a:rPr dirty="0"/>
              <a:t>({ method: "POST" })</a:t>
            </a:r>
            <a:br>
              <a:rPr dirty="0"/>
            </a:br>
            <a:r>
              <a:rPr dirty="0"/>
              <a:t>  .</a:t>
            </a:r>
            <a:r>
              <a:rPr dirty="0" err="1"/>
              <a:t>inputValidator</a:t>
            </a:r>
            <a:r>
              <a:rPr dirty="0"/>
              <a:t>((d: { </a:t>
            </a:r>
            <a:r>
              <a:rPr dirty="0" err="1"/>
              <a:t>queryText</a:t>
            </a:r>
            <a:r>
              <a:rPr dirty="0"/>
              <a:t>: string; history: </a:t>
            </a:r>
            <a:r>
              <a:rPr dirty="0" err="1"/>
              <a:t>ChatMessage</a:t>
            </a:r>
            <a:r>
              <a:rPr dirty="0"/>
              <a:t>[]; </a:t>
            </a:r>
            <a:r>
              <a:rPr dirty="0" err="1"/>
              <a:t>langCode</a:t>
            </a:r>
            <a:r>
              <a:rPr dirty="0"/>
              <a:t>: string }) =&gt; d)</a:t>
            </a:r>
            <a:br>
              <a:rPr dirty="0"/>
            </a:br>
            <a:r>
              <a:rPr dirty="0"/>
              <a:t>  .handler(async ({ data }) =&gt; {</a:t>
            </a:r>
            <a:br>
              <a:rPr dirty="0"/>
            </a:br>
            <a:r>
              <a:rPr dirty="0"/>
              <a:t>    const { </a:t>
            </a:r>
            <a:r>
              <a:rPr dirty="0" err="1"/>
              <a:t>queryText</a:t>
            </a:r>
            <a:r>
              <a:rPr dirty="0"/>
              <a:t>, history, </a:t>
            </a:r>
            <a:r>
              <a:rPr dirty="0" err="1"/>
              <a:t>langCode</a:t>
            </a:r>
            <a:r>
              <a:rPr dirty="0"/>
              <a:t> } = data;</a:t>
            </a:r>
            <a:br>
              <a:rPr dirty="0"/>
            </a:br>
            <a:r>
              <a:rPr dirty="0"/>
              <a:t>    const </a:t>
            </a:r>
            <a:r>
              <a:rPr dirty="0" err="1"/>
              <a:t>apiKey</a:t>
            </a:r>
            <a:r>
              <a:rPr dirty="0"/>
              <a:t> = </a:t>
            </a:r>
            <a:r>
              <a:rPr dirty="0" err="1"/>
              <a:t>process.env.GEMINI_API_KEY</a:t>
            </a:r>
            <a:r>
              <a:rPr dirty="0"/>
              <a:t> || </a:t>
            </a:r>
            <a:r>
              <a:rPr dirty="0" err="1"/>
              <a:t>import.meta.env.VITE_GEMINI_API_KEY</a:t>
            </a:r>
            <a:r>
              <a:rPr dirty="0"/>
              <a:t>;</a:t>
            </a:r>
            <a:br>
              <a:rPr dirty="0"/>
            </a:br>
            <a:br>
              <a:rPr dirty="0"/>
            </a:br>
            <a:r>
              <a:rPr dirty="0"/>
              <a:t>    if (!</a:t>
            </a:r>
            <a:r>
              <a:rPr dirty="0" err="1"/>
              <a:t>apiKey</a:t>
            </a:r>
            <a:r>
              <a:rPr dirty="0"/>
              <a:t>) throw new Error("API_KEY_MISSING");</a:t>
            </a:r>
            <a:br>
              <a:rPr dirty="0"/>
            </a:br>
            <a:br>
              <a:rPr dirty="0"/>
            </a:br>
            <a:r>
              <a:rPr dirty="0"/>
              <a:t>    const </a:t>
            </a:r>
            <a:r>
              <a:rPr dirty="0" err="1"/>
              <a:t>systemInstruction</a:t>
            </a:r>
            <a:r>
              <a:rPr dirty="0"/>
              <a:t> = </a:t>
            </a:r>
            <a:r>
              <a:rPr dirty="0" err="1"/>
              <a:t>buildSystemPrompt</a:t>
            </a:r>
            <a:r>
              <a:rPr dirty="0"/>
              <a:t>(</a:t>
            </a:r>
            <a:r>
              <a:rPr dirty="0" err="1"/>
              <a:t>langCode</a:t>
            </a:r>
            <a:r>
              <a:rPr dirty="0"/>
              <a:t>);</a:t>
            </a:r>
            <a:br>
              <a:rPr dirty="0"/>
            </a:br>
            <a:r>
              <a:rPr dirty="0"/>
              <a:t>    const contents = [</a:t>
            </a:r>
            <a:br>
              <a:rPr dirty="0"/>
            </a:br>
            <a:r>
              <a:rPr dirty="0"/>
              <a:t>      ...</a:t>
            </a:r>
            <a:r>
              <a:rPr dirty="0" err="1"/>
              <a:t>history.map</a:t>
            </a:r>
            <a:r>
              <a:rPr dirty="0"/>
              <a:t>((msg) =&gt; ({</a:t>
            </a:r>
            <a:br>
              <a:rPr dirty="0"/>
            </a:br>
            <a:r>
              <a:rPr dirty="0"/>
              <a:t>        role: </a:t>
            </a:r>
            <a:r>
              <a:rPr dirty="0" err="1"/>
              <a:t>msg.role</a:t>
            </a:r>
            <a:r>
              <a:rPr dirty="0"/>
              <a:t> === "user" ? "user" : "model",</a:t>
            </a:r>
            <a:br>
              <a:rPr dirty="0"/>
            </a:br>
            <a:r>
              <a:rPr dirty="0"/>
              <a:t>        parts: [{ text: </a:t>
            </a:r>
            <a:r>
              <a:rPr dirty="0" err="1"/>
              <a:t>msg.text</a:t>
            </a:r>
            <a:r>
              <a:rPr dirty="0"/>
              <a:t> }],</a:t>
            </a:r>
            <a:br>
              <a:rPr dirty="0"/>
            </a:br>
            <a:r>
              <a:rPr dirty="0"/>
              <a:t>      })),</a:t>
            </a:r>
            <a:br>
              <a:rPr dirty="0"/>
            </a:br>
            <a:r>
              <a:rPr dirty="0"/>
              <a:t>      { role: "user", parts: [{ text: </a:t>
            </a:r>
            <a:r>
              <a:rPr dirty="0" err="1"/>
              <a:t>queryText</a:t>
            </a:r>
            <a:r>
              <a:rPr dirty="0"/>
              <a:t> }] },</a:t>
            </a:r>
            <a:br>
              <a:rPr dirty="0"/>
            </a:br>
            <a:r>
              <a:rPr dirty="0"/>
              <a:t>    ];</a:t>
            </a:r>
            <a:br>
              <a:rPr dirty="0"/>
            </a:br>
            <a:br>
              <a:rPr dirty="0"/>
            </a:br>
            <a:r>
              <a:rPr dirty="0"/>
              <a:t>    const </a:t>
            </a:r>
            <a:r>
              <a:rPr dirty="0" err="1"/>
              <a:t>url</a:t>
            </a:r>
            <a:r>
              <a:rPr dirty="0"/>
              <a:t> = `https://generativelanguage.googleapis.com/v1beta/models/gemini-3.5-flash:generateContent?key=${</a:t>
            </a:r>
            <a:r>
              <a:rPr dirty="0" err="1"/>
              <a:t>apiKey</a:t>
            </a:r>
            <a:r>
              <a:rPr dirty="0"/>
              <a:t>}`;</a:t>
            </a:r>
            <a:br>
              <a:rPr dirty="0"/>
            </a:br>
            <a:br>
              <a:rPr dirty="0"/>
            </a:br>
            <a:r>
              <a:rPr dirty="0"/>
              <a:t>    const response = await fetch(</a:t>
            </a:r>
            <a:r>
              <a:rPr dirty="0" err="1"/>
              <a:t>url</a:t>
            </a:r>
            <a:r>
              <a:rPr dirty="0"/>
              <a:t>, {</a:t>
            </a:r>
            <a:br>
              <a:rPr dirty="0"/>
            </a:br>
            <a:r>
              <a:rPr dirty="0"/>
              <a:t>      method: "POST",</a:t>
            </a:r>
            <a:br>
              <a:rPr dirty="0"/>
            </a:br>
            <a:r>
              <a:rPr dirty="0"/>
              <a:t>      headers: { "Content-Type": "application/</a:t>
            </a:r>
            <a:r>
              <a:rPr dirty="0" err="1"/>
              <a:t>json</a:t>
            </a:r>
            <a:r>
              <a:rPr dirty="0"/>
              <a:t>" },</a:t>
            </a:r>
            <a:br>
              <a:rPr dirty="0"/>
            </a:br>
            <a:r>
              <a:rPr dirty="0"/>
              <a:t>      body: </a:t>
            </a:r>
            <a:r>
              <a:rPr dirty="0" err="1"/>
              <a:t>JSON.stringify</a:t>
            </a:r>
            <a:r>
              <a:rPr dirty="0"/>
              <a:t>({</a:t>
            </a:r>
            <a:br>
              <a:rPr dirty="0"/>
            </a:br>
            <a:r>
              <a:rPr dirty="0"/>
              <a:t>        contents,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systemInstruction</a:t>
            </a:r>
            <a:r>
              <a:rPr dirty="0"/>
              <a:t>: { parts: [{ text: </a:t>
            </a:r>
            <a:r>
              <a:rPr dirty="0" err="1"/>
              <a:t>systemInstruction</a:t>
            </a:r>
            <a:r>
              <a:rPr dirty="0"/>
              <a:t> }] },</a:t>
            </a:r>
            <a:br>
              <a:rPr dirty="0"/>
            </a:br>
            <a:r>
              <a:rPr dirty="0"/>
              <a:t>        tools: [{ </a:t>
            </a:r>
            <a:r>
              <a:rPr dirty="0" err="1"/>
              <a:t>googleSearch</a:t>
            </a:r>
            <a:r>
              <a:rPr dirty="0"/>
              <a:t>: {} }],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generationConfig</a:t>
            </a:r>
            <a:r>
              <a:rPr dirty="0"/>
              <a:t>: { temperature: 0.4, </a:t>
            </a:r>
            <a:r>
              <a:rPr dirty="0" err="1"/>
              <a:t>maxOutputTokens</a:t>
            </a:r>
            <a:r>
              <a:rPr dirty="0"/>
              <a:t>: 600 },</a:t>
            </a:r>
            <a:br>
              <a:rPr dirty="0"/>
            </a:br>
            <a:r>
              <a:rPr dirty="0"/>
              <a:t>      }),</a:t>
            </a:r>
            <a:br>
              <a:rPr dirty="0"/>
            </a:br>
            <a:r>
              <a:rPr dirty="0"/>
              <a:t>    });</a:t>
            </a:r>
            <a:br>
              <a:rPr dirty="0"/>
            </a:br>
            <a:r>
              <a:rPr dirty="0"/>
              <a:t>    const </a:t>
            </a:r>
            <a:r>
              <a:rPr dirty="0" err="1"/>
              <a:t>resData</a:t>
            </a:r>
            <a:r>
              <a:rPr dirty="0"/>
              <a:t> = await </a:t>
            </a:r>
            <a:r>
              <a:rPr dirty="0" err="1"/>
              <a:t>response.json</a:t>
            </a:r>
            <a:r>
              <a:rPr dirty="0"/>
              <a:t>();</a:t>
            </a:r>
            <a:br>
              <a:rPr dirty="0"/>
            </a:br>
            <a:r>
              <a:rPr dirty="0"/>
              <a:t>    return </a:t>
            </a:r>
            <a:r>
              <a:rPr dirty="0" err="1"/>
              <a:t>resData.candidates</a:t>
            </a:r>
            <a:r>
              <a:rPr dirty="0"/>
              <a:t>?.[0]?.</a:t>
            </a:r>
            <a:r>
              <a:rPr dirty="0" err="1"/>
              <a:t>content?.parts</a:t>
            </a:r>
            <a:r>
              <a:rPr dirty="0"/>
              <a:t>?.[0]?.</a:t>
            </a:r>
            <a:r>
              <a:rPr dirty="0" err="1"/>
              <a:t>text.trim</a:t>
            </a:r>
            <a:r>
              <a:rPr dirty="0"/>
              <a:t>();</a:t>
            </a:r>
            <a:br>
              <a:rPr dirty="0"/>
            </a:br>
            <a:r>
              <a:rPr dirty="0"/>
              <a:t>  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Firestore Collections &amp; Real-Time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" y="1042416"/>
            <a:ext cx="4489704" cy="5815584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2668" y="1055102"/>
            <a:ext cx="420624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000" dirty="0"/>
              <a:t>🗄️ </a:t>
            </a:r>
            <a:r>
              <a:rPr sz="2000" dirty="0" err="1"/>
              <a:t>Firestore</a:t>
            </a:r>
            <a:r>
              <a:rPr sz="2000" dirty="0"/>
              <a:t> Collections Structure</a:t>
            </a:r>
          </a:p>
          <a:p>
            <a:pPr>
              <a:defRPr sz="1050">
                <a:solidFill>
                  <a:srgbClr val="1A1D20"/>
                </a:solidFill>
                <a:latin typeface="Consolas"/>
              </a:defRPr>
            </a:pPr>
            <a:r>
              <a:rPr sz="1600" dirty="0"/>
              <a:t>/products/{</a:t>
            </a:r>
            <a:r>
              <a:rPr sz="1600" dirty="0" err="1"/>
              <a:t>productId</a:t>
            </a:r>
            <a:r>
              <a:rPr sz="1600" dirty="0"/>
              <a:t>}</a:t>
            </a:r>
            <a:br>
              <a:rPr sz="1600" dirty="0"/>
            </a:br>
            <a:r>
              <a:rPr sz="1600" dirty="0"/>
              <a:t>• name, price, unit, category, stock, freshness, </a:t>
            </a:r>
            <a:r>
              <a:rPr sz="1600" dirty="0" err="1"/>
              <a:t>farmerId</a:t>
            </a:r>
            <a:br>
              <a:rPr sz="1600" dirty="0"/>
            </a:br>
            <a:br>
              <a:rPr sz="1600" dirty="0"/>
            </a:br>
            <a:r>
              <a:rPr sz="1600" dirty="0"/>
              <a:t>/chats/{</a:t>
            </a:r>
            <a:r>
              <a:rPr sz="1600" dirty="0" err="1"/>
              <a:t>convoId</a:t>
            </a:r>
            <a:r>
              <a:rPr sz="1600" dirty="0"/>
              <a:t>}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farmerId</a:t>
            </a:r>
            <a:r>
              <a:rPr sz="1600" dirty="0"/>
              <a:t>, </a:t>
            </a:r>
            <a:r>
              <a:rPr sz="1600" dirty="0" err="1"/>
              <a:t>userId</a:t>
            </a:r>
            <a:r>
              <a:rPr sz="1600" dirty="0"/>
              <a:t>, </a:t>
            </a:r>
            <a:r>
              <a:rPr sz="1600" dirty="0" err="1"/>
              <a:t>productId</a:t>
            </a:r>
            <a:r>
              <a:rPr sz="1600" dirty="0"/>
              <a:t>, </a:t>
            </a:r>
            <a:r>
              <a:rPr sz="1600" dirty="0" err="1"/>
              <a:t>updatedAt</a:t>
            </a:r>
            <a:br>
              <a:rPr sz="1600" dirty="0"/>
            </a:br>
            <a:r>
              <a:rPr sz="1600" dirty="0"/>
              <a:t>• Subcollection: /messages/{</a:t>
            </a:r>
            <a:r>
              <a:rPr sz="1600" dirty="0" err="1"/>
              <a:t>msgId</a:t>
            </a:r>
            <a:r>
              <a:rPr sz="1600" dirty="0"/>
              <a:t>}</a:t>
            </a:r>
            <a:br>
              <a:rPr sz="1600" dirty="0"/>
            </a:br>
            <a:r>
              <a:rPr sz="1600" dirty="0"/>
              <a:t>  - from: "me" | "farmer"</a:t>
            </a:r>
            <a:br>
              <a:rPr sz="1600" dirty="0"/>
            </a:br>
            <a:r>
              <a:rPr sz="1600" dirty="0"/>
              <a:t>  - kind: "text" | "offer" | "counter" | "accept" | "deal"</a:t>
            </a:r>
            <a:br>
              <a:rPr sz="1600" dirty="0"/>
            </a:br>
            <a:r>
              <a:rPr sz="1600" dirty="0"/>
              <a:t>  - text, price, qty, unit, </a:t>
            </a:r>
            <a:r>
              <a:rPr sz="1600" dirty="0" err="1"/>
              <a:t>createdAt</a:t>
            </a:r>
            <a:br>
              <a:rPr sz="1600" dirty="0"/>
            </a:br>
            <a:br>
              <a:rPr sz="1600" dirty="0"/>
            </a:br>
            <a:r>
              <a:rPr sz="1600" dirty="0"/>
              <a:t>/orders/{</a:t>
            </a:r>
            <a:r>
              <a:rPr sz="1600" dirty="0" err="1"/>
              <a:t>orderId</a:t>
            </a:r>
            <a:r>
              <a:rPr sz="1600" dirty="0"/>
              <a:t>}</a:t>
            </a:r>
            <a:br>
              <a:rPr sz="1600" dirty="0"/>
            </a:br>
            <a:r>
              <a:rPr sz="1600" dirty="0"/>
              <a:t>• items[], subtotal, </a:t>
            </a:r>
            <a:r>
              <a:rPr sz="1600" dirty="0" err="1"/>
              <a:t>deliveryFee</a:t>
            </a:r>
            <a:r>
              <a:rPr sz="1600" dirty="0"/>
              <a:t>, </a:t>
            </a:r>
            <a:r>
              <a:rPr sz="1600" dirty="0" err="1"/>
              <a:t>distanceKm</a:t>
            </a:r>
            <a:r>
              <a:rPr sz="1600" dirty="0"/>
              <a:t>, total</a:t>
            </a:r>
            <a:br>
              <a:rPr sz="1600" dirty="0"/>
            </a:br>
            <a:r>
              <a:rPr sz="1600" dirty="0"/>
              <a:t>• status: "confirmed" | "preparing" | "delivering"</a:t>
            </a:r>
            <a:br>
              <a:rPr sz="1600" dirty="0"/>
            </a:br>
            <a:r>
              <a:rPr sz="1600" dirty="0"/>
              <a:t>• stage: 0..3, </a:t>
            </a:r>
            <a:r>
              <a:rPr sz="1600" dirty="0" err="1"/>
              <a:t>etaMinutes</a:t>
            </a:r>
            <a:r>
              <a:rPr sz="1600" dirty="0"/>
              <a:t>, rider, </a:t>
            </a:r>
            <a:r>
              <a:rPr sz="1600" dirty="0" err="1"/>
              <a:t>statusHistory</a:t>
            </a:r>
            <a:r>
              <a:rPr sz="1600" dirty="0"/>
              <a:t>[]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63040"/>
            <a:ext cx="6126480" cy="4754880"/>
          </a:xfrm>
          <a:prstGeom prst="roundRect">
            <a:avLst/>
          </a:prstGeom>
          <a:solidFill>
            <a:srgbClr val="1E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40680" y="155448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Consolas"/>
              </a:defRPr>
            </a:pPr>
            <a:r>
              <a:t>// Real-Time Sync (onSnapshot Listener)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82880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CE1E6"/>
                </a:solidFill>
                <a:latin typeface="Consolas"/>
              </a:defRPr>
            </a:pPr>
            <a:r>
              <a:t>// Real-time listener for buyer-farmer negotiation chat</a:t>
            </a:r>
            <a:br/>
            <a:r>
              <a:t>useEffect(() =&gt; {</a:t>
            </a:r>
            <a:br/>
            <a:r>
              <a:t>  const q = query(</a:t>
            </a:r>
            <a:br/>
            <a:r>
              <a:t>    collection(db, "chats", convoId, "messages"),</a:t>
            </a:r>
            <a:br/>
            <a:r>
              <a:t>    orderBy("createdAt", "asc")</a:t>
            </a:r>
            <a:br/>
            <a:r>
              <a:t>  );</a:t>
            </a:r>
            <a:br/>
            <a:br/>
            <a:r>
              <a:t>  const unsub = onSnapshot(q, (snap) =&gt; {</a:t>
            </a:r>
            <a:br/>
            <a:r>
              <a:t>    const list: Msg[] = snap.docs.map(d =&gt; ({</a:t>
            </a:r>
            <a:br/>
            <a:r>
              <a:t>      id: d.id,</a:t>
            </a:r>
            <a:br/>
            <a:r>
              <a:t>      from: d.data().from === "me" || d.data().userId === userKey ? "me" : "farmer",</a:t>
            </a:r>
            <a:br/>
            <a:r>
              <a:t>      kind: d.data().kind,</a:t>
            </a:r>
            <a:br/>
            <a:r>
              <a:t>      text: d.data().text,</a:t>
            </a:r>
            <a:br/>
            <a:r>
              <a:t>      price: d.data().price,</a:t>
            </a:r>
            <a:br/>
            <a:r>
              <a:t>      qty: d.data().qty,</a:t>
            </a:r>
            <a:br/>
            <a:r>
              <a:t>      time: fmtTime(d.data().createdAt?.toDate() || new Date())</a:t>
            </a:r>
            <a:br/>
            <a:r>
              <a:t>    }));</a:t>
            </a:r>
            <a:br/>
            <a:br/>
            <a:r>
              <a:t>    // Detect deal sealed &amp; save to reactive deals store</a:t>
            </a:r>
            <a:br/>
            <a:r>
              <a:t>    const lastDeal = [...list].reverse().find(m =&gt; m.kind === "deal");</a:t>
            </a:r>
            <a:br/>
            <a:r>
              <a:t>    if (lastDeal?.price &amp;&amp; lastDeal?.qty) {</a:t>
            </a:r>
            <a:br/>
            <a:r>
              <a:t>      setDeal({ price: lastDeal.price, qty: lastDeal.qty });</a:t>
            </a:r>
            <a:br/>
            <a:r>
              <a:t>      deals.set({ productId: product.id, price: lastDeal.price, qty: lastDeal.qty, at: Date.now() });</a:t>
            </a:r>
            <a:br/>
            <a:r>
              <a:t>    }</a:t>
            </a:r>
            <a:br/>
            <a:r>
              <a:t>    setMsgs(list);</a:t>
            </a:r>
            <a:br/>
            <a:r>
              <a:t>  });</a:t>
            </a:r>
            <a:br/>
            <a:r>
              <a:t>  return () =&gt; unsub();</a:t>
            </a:r>
            <a:br/>
            <a:r>
              <a:t>}, [convoId]);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2336" y="32918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Empirical Performance &amp; Benchmark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229437"/>
              </p:ext>
            </p:extLst>
          </p:nvPr>
        </p:nvGraphicFramePr>
        <p:xfrm>
          <a:off x="402336" y="1078992"/>
          <a:ext cx="11448288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0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6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1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Metric / Benchmark</a:t>
                      </a:r>
                    </a:p>
                  </a:txBody>
                  <a:tcPr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Technical Implementation &amp; Rationale</a:t>
                      </a:r>
                    </a:p>
                  </a:txBody>
                  <a:tcPr>
                    <a:solidFill>
                      <a:srgbClr val="1B4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1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First Contentful Paint (FCP)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~280 ms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Vite build tree-shaking + Cloudflare Edge global CDN caching.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1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Edge Handler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~45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TanStack Start server function executed on Cloudflare Workers edge node.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1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Gemini 3.5 Response Time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~850 ms - 1.1 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Includes search grounding tool overhead &amp; multilingual prompt synthesis.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41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Firestore Real-Time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~120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WebSocket write-to-client snapshot rendering on active chat routes.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41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Voice Parsing Latency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~4 ms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Client-side regex pattern matching and numeric string dictionary conversion.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41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t>Gzipped JS Bundle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182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0"/>
                          </a:solidFill>
                        </a:defRPr>
                      </a:pPr>
                      <a:r>
                        <a:rPr dirty="0"/>
                        <a:t>Optimized React 19 bundle with lazy router chunk splitting.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Step-by-Step Live Demo Guide for Judges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rPr dirty="0"/>
              <a:t>STEP 1: Farmer Voice Listing</a:t>
            </a:r>
          </a:p>
          <a:p>
            <a:pPr>
              <a:spcBef>
                <a:spcPts val="400"/>
              </a:spcBef>
              <a:defRPr sz="1100">
                <a:solidFill>
                  <a:srgbClr val="1A1D20"/>
                </a:solidFill>
              </a:defRPr>
            </a:pPr>
            <a:r>
              <a:rPr sz="1400" dirty="0"/>
              <a:t>Navigate to '/farmer-dashboard' or '/' -&gt; Click 🎤 'Start Voice' -&gt; Say: '</a:t>
            </a:r>
            <a:r>
              <a:rPr sz="1400" dirty="0" err="1"/>
              <a:t>Tamatar</a:t>
            </a:r>
            <a:r>
              <a:rPr sz="1400" dirty="0"/>
              <a:t> price 45 stock 20' -&gt; Watch Name, Price (₹45), &amp; Stock (20) auto-fill instantly!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rPr dirty="0"/>
              <a:t>STEP 2: </a:t>
            </a:r>
            <a:r>
              <a:rPr dirty="0" err="1"/>
              <a:t>KrishiMitra</a:t>
            </a:r>
            <a:r>
              <a:rPr dirty="0"/>
              <a:t> Multilingual AI</a:t>
            </a:r>
          </a:p>
          <a:p>
            <a:pPr>
              <a:spcBef>
                <a:spcPts val="400"/>
              </a:spcBef>
              <a:defRPr sz="1100">
                <a:solidFill>
                  <a:srgbClr val="1A1D20"/>
                </a:solidFill>
              </a:defRPr>
            </a:pPr>
            <a:r>
              <a:rPr sz="1400" dirty="0"/>
              <a:t>Click floating green ✨ icon -&gt; Switch language to Hindi/Marathi -&gt; Ask: 'Who sells fresh organic tomatoes?' -&gt; Gemini responds with Ramesh Patel &amp; direct bargaining link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3272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rPr dirty="0"/>
              <a:t>STEP 3: Real-Time AI Bargaining</a:t>
            </a:r>
            <a:endParaRPr sz="1400" dirty="0"/>
          </a:p>
          <a:p>
            <a:pPr>
              <a:spcBef>
                <a:spcPts val="400"/>
              </a:spcBef>
              <a:defRPr sz="1100">
                <a:solidFill>
                  <a:srgbClr val="1A1D20"/>
                </a:solidFill>
              </a:defRPr>
            </a:pPr>
            <a:r>
              <a:rPr sz="1400" dirty="0"/>
              <a:t>Open Tomato page (listed at ₹50/kg) -&gt; Click 'Negotiate with Farmer' -&gt; Enter Offer: ₹42, Qty: 6 kg -&gt; Click 'Send Offer' -&gt; </a:t>
            </a:r>
            <a:r>
              <a:rPr sz="1400" dirty="0" err="1"/>
              <a:t>farmerDecide</a:t>
            </a:r>
            <a:r>
              <a:rPr sz="1400" dirty="0"/>
              <a:t> accepts &amp; seals deal!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3272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rPr dirty="0"/>
              <a:t>STEP 4: Checkout &amp; Order Tracking</a:t>
            </a:r>
          </a:p>
          <a:p>
            <a:pPr>
              <a:spcBef>
                <a:spcPts val="400"/>
              </a:spcBef>
              <a:defRPr sz="1100">
                <a:solidFill>
                  <a:srgbClr val="1A1D20"/>
                </a:solidFill>
              </a:defRPr>
            </a:pPr>
            <a:r>
              <a:rPr sz="1400" dirty="0"/>
              <a:t>Click 'Proceed to Checkout' -&gt; See negotiated price discount (₹42 vs ₹50) -&gt; Select Cash on Delivery -&gt; Click 'Place Order' -&gt; Track live delivery on '/track'!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Engineering Friction &amp; Technical Lessons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17320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554480"/>
            <a:ext cx="1033272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5100"/>
                </a:solidFill>
              </a:defRPr>
            </a:pPr>
            <a:r>
              <a:rPr sz="1600" dirty="0"/>
              <a:t>🐛 Challenge #1: CORS Block on Edge API Calls</a:t>
            </a:r>
          </a:p>
          <a:p>
            <a:pPr>
              <a:spcBef>
                <a:spcPts val="300"/>
              </a:spcBef>
              <a:defRPr sz="1100">
                <a:solidFill>
                  <a:srgbClr val="1A1D20"/>
                </a:solidFill>
              </a:defRPr>
            </a:pPr>
            <a:r>
              <a:rPr sz="1600" dirty="0"/>
              <a:t>Issue: Calling Gemini API directly from browser caused CORS errors and exposed secret API keys in browser network tab.</a:t>
            </a:r>
          </a:p>
          <a:p>
            <a:pPr>
              <a:spcBef>
                <a:spcPts val="300"/>
              </a:spcBef>
              <a:defRPr sz="1100">
                <a:solidFill>
                  <a:srgbClr val="1A1D20"/>
                </a:solidFill>
              </a:defRPr>
            </a:pPr>
            <a:r>
              <a:rPr sz="1600" dirty="0"/>
              <a:t>Fix: Created a </a:t>
            </a:r>
            <a:r>
              <a:rPr sz="1600" dirty="0" err="1"/>
              <a:t>TanStack</a:t>
            </a:r>
            <a:r>
              <a:rPr sz="1600" dirty="0"/>
              <a:t> </a:t>
            </a:r>
            <a:r>
              <a:rPr sz="1600" dirty="0" err="1"/>
              <a:t>createServerFn</a:t>
            </a:r>
            <a:r>
              <a:rPr sz="1600" dirty="0"/>
              <a:t> backend function (</a:t>
            </a:r>
            <a:r>
              <a:rPr sz="1600" dirty="0" err="1"/>
              <a:t>askGeminiServer</a:t>
            </a:r>
            <a:r>
              <a:rPr sz="1600" dirty="0"/>
              <a:t>) running strictly on Cloudflare Workers edge server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17320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33272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5100"/>
                </a:solidFill>
              </a:defRPr>
            </a:pPr>
            <a:r>
              <a:rPr sz="1600" dirty="0"/>
              <a:t>🐛 Challenge #2: Cart &amp; Negotiated Deal Desynchronization</a:t>
            </a:r>
          </a:p>
          <a:p>
            <a:pPr>
              <a:spcBef>
                <a:spcPts val="300"/>
              </a:spcBef>
              <a:defRPr sz="1100">
                <a:solidFill>
                  <a:srgbClr val="1A1D20"/>
                </a:solidFill>
              </a:defRPr>
            </a:pPr>
            <a:r>
              <a:rPr sz="1600" dirty="0"/>
              <a:t>Issue: Sealing a deal in /chat left the checkout page displaying original un-negotiated prices.</a:t>
            </a:r>
          </a:p>
          <a:p>
            <a:pPr>
              <a:spcBef>
                <a:spcPts val="300"/>
              </a:spcBef>
              <a:defRPr sz="1100">
                <a:solidFill>
                  <a:srgbClr val="1A1D20"/>
                </a:solidFill>
              </a:defRPr>
            </a:pPr>
            <a:r>
              <a:rPr sz="1600" dirty="0"/>
              <a:t>Fix: Implemented a global reactive store (deals-</a:t>
            </a:r>
            <a:r>
              <a:rPr sz="1600" dirty="0" err="1"/>
              <a:t>store.ts</a:t>
            </a:r>
            <a:r>
              <a:rPr sz="1600" dirty="0"/>
              <a:t>) that automatically overrides default product rates across cart subtotal math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417320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4777740"/>
            <a:ext cx="1033272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5100"/>
                </a:solidFill>
              </a:defRPr>
            </a:pPr>
            <a:r>
              <a:rPr sz="1600" dirty="0"/>
              <a:t>🐛 Challenge #3: Speech Recognition Cross-Browser Quirks</a:t>
            </a:r>
          </a:p>
          <a:p>
            <a:pPr>
              <a:spcBef>
                <a:spcPts val="300"/>
              </a:spcBef>
              <a:defRPr sz="1100">
                <a:solidFill>
                  <a:srgbClr val="1A1D20"/>
                </a:solidFill>
              </a:defRPr>
            </a:pPr>
            <a:r>
              <a:rPr sz="1600" dirty="0"/>
              <a:t>Issue: </a:t>
            </a:r>
            <a:r>
              <a:rPr sz="1600" dirty="0" err="1"/>
              <a:t>window.SpeechRecognition</a:t>
            </a:r>
            <a:r>
              <a:rPr sz="1600" dirty="0"/>
              <a:t> behaves differently across desktop Chrome, Android Chrome, and Safari.</a:t>
            </a:r>
          </a:p>
          <a:p>
            <a:pPr>
              <a:spcBef>
                <a:spcPts val="300"/>
              </a:spcBef>
              <a:defRPr sz="1100">
                <a:solidFill>
                  <a:srgbClr val="1A1D20"/>
                </a:solidFill>
              </a:defRPr>
            </a:pPr>
            <a:r>
              <a:rPr sz="1600" dirty="0"/>
              <a:t>Fix: Built </a:t>
            </a:r>
            <a:r>
              <a:rPr sz="1600" dirty="0" err="1"/>
              <a:t>getSpeechRecognitionConstructor</a:t>
            </a:r>
            <a:r>
              <a:rPr sz="1600" dirty="0"/>
              <a:t>() helper to gracefully detect </a:t>
            </a:r>
            <a:r>
              <a:rPr sz="1600" dirty="0" err="1"/>
              <a:t>webkitSpeechRecognition</a:t>
            </a:r>
            <a:r>
              <a:rPr sz="1600" dirty="0"/>
              <a:t> and handle unsupported browser fallbacks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4D3E"/>
                </a:solidFill>
              </a:defRPr>
            </a:pPr>
            <a:r>
              <a:t>Future Roadmap &amp; Market Scaling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784" y="1463039"/>
            <a:ext cx="5294376" cy="5343267"/>
          </a:xfrm>
          <a:prstGeom prst="roundRect">
            <a:avLst/>
          </a:prstGeom>
          <a:solidFill>
            <a:srgbClr val="F5F7F8"/>
          </a:solidFill>
          <a:ln w="1905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528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400" dirty="0"/>
              <a:t>🚀 Next Technical Milestones</a:t>
            </a:r>
          </a:p>
          <a:p>
            <a:pPr>
              <a:spcBef>
                <a:spcPts val="1000"/>
              </a:spcBef>
              <a:defRPr sz="1150">
                <a:solidFill>
                  <a:srgbClr val="1A1D20"/>
                </a:solidFill>
              </a:defRPr>
            </a:pPr>
            <a:r>
              <a:rPr sz="2000" dirty="0"/>
              <a:t>• Offline Voice Caching (PWA): Store speech-to-text models locally so farmers can list crops without active 4G data connection.</a:t>
            </a:r>
          </a:p>
          <a:p>
            <a:pPr>
              <a:spcBef>
                <a:spcPts val="1000"/>
              </a:spcBef>
              <a:defRPr sz="1150">
                <a:solidFill>
                  <a:srgbClr val="1A1D20"/>
                </a:solidFill>
              </a:defRPr>
            </a:pPr>
            <a:r>
              <a:rPr sz="2000" dirty="0"/>
              <a:t>• Dynamic </a:t>
            </a:r>
            <a:r>
              <a:rPr sz="2000" dirty="0" err="1"/>
              <a:t>Dynamic</a:t>
            </a:r>
            <a:r>
              <a:rPr sz="2000" dirty="0"/>
              <a:t> Pricing ML: Train custom model on historical mandi rates to adjust </a:t>
            </a:r>
            <a:r>
              <a:rPr sz="2000" dirty="0" err="1"/>
              <a:t>farmerDecide</a:t>
            </a:r>
            <a:r>
              <a:rPr sz="2000" dirty="0"/>
              <a:t> thresholds based on seasonal demand.</a:t>
            </a:r>
          </a:p>
          <a:p>
            <a:pPr>
              <a:spcBef>
                <a:spcPts val="1000"/>
              </a:spcBef>
              <a:defRPr sz="1150">
                <a:solidFill>
                  <a:srgbClr val="1A1D20"/>
                </a:solidFill>
              </a:defRPr>
            </a:pPr>
            <a:r>
              <a:rPr sz="2000" dirty="0"/>
              <a:t>• WhatsApp / SMS Integration: Send instant order confirmations &amp; pickup codes via Twilio API for non-smartphone users.</a:t>
            </a:r>
          </a:p>
          <a:p>
            <a:pPr>
              <a:spcBef>
                <a:spcPts val="1000"/>
              </a:spcBef>
              <a:defRPr sz="1150">
                <a:solidFill>
                  <a:srgbClr val="1A1D20"/>
                </a:solidFill>
              </a:defRPr>
            </a:pPr>
            <a:r>
              <a:rPr sz="2000" dirty="0"/>
              <a:t>• Geospatial Pooling: Group nearby consumer orders to cut delivery costs by 50% for local logistics riders.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660136" cy="5283498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1384" y="1531687"/>
            <a:ext cx="484632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rPr sz="2400" dirty="0"/>
              <a:t>📈 Economic Impact for Farmers</a:t>
            </a:r>
          </a:p>
          <a:p>
            <a:pPr>
              <a:spcBef>
                <a:spcPts val="1000"/>
              </a:spcBef>
              <a:defRPr sz="1150">
                <a:solidFill>
                  <a:srgbClr val="1A1D20"/>
                </a:solidFill>
              </a:defRPr>
            </a:pPr>
            <a:r>
              <a:rPr sz="2000" dirty="0"/>
              <a:t>• 30%+ Earnings Boost: Eliminating middleman commission passes revenue straight back to small agricultural producers.</a:t>
            </a:r>
          </a:p>
          <a:p>
            <a:pPr>
              <a:spcBef>
                <a:spcPts val="1000"/>
              </a:spcBef>
              <a:defRPr sz="1150">
                <a:solidFill>
                  <a:srgbClr val="1A1D20"/>
                </a:solidFill>
              </a:defRPr>
            </a:pPr>
            <a:r>
              <a:rPr sz="2000" dirty="0"/>
              <a:t>• Same-Day Farm-to-Table: Fresh produce reaches urban consumers within hours of harvesting.</a:t>
            </a:r>
          </a:p>
          <a:p>
            <a:pPr>
              <a:spcBef>
                <a:spcPts val="1000"/>
              </a:spcBef>
              <a:defRPr sz="1150">
                <a:solidFill>
                  <a:srgbClr val="1A1D20"/>
                </a:solidFill>
              </a:defRPr>
            </a:pPr>
            <a:r>
              <a:rPr sz="2000" dirty="0"/>
              <a:t>• Transparent Price Discovery: Removes hidden Mandi fees and unpredictable broker markups.</a:t>
            </a:r>
          </a:p>
          <a:p>
            <a:pPr>
              <a:spcBef>
                <a:spcPts val="1000"/>
              </a:spcBef>
              <a:defRPr sz="1150">
                <a:solidFill>
                  <a:srgbClr val="1A1D20"/>
                </a:solidFill>
              </a:defRPr>
            </a:pPr>
            <a:r>
              <a:rPr sz="2000" dirty="0"/>
              <a:t>• Inclusive Digital Access: Regional voice recognition opens digital markets to millions of low-literacy farmers.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6784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494564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D3E"/>
                </a:solidFill>
              </a:defRPr>
            </a:pPr>
            <a:r>
              <a:rPr dirty="0"/>
              <a:t> </a:t>
            </a:r>
            <a:r>
              <a:rPr dirty="0" err="1"/>
              <a:t>KrishiDirect</a:t>
            </a:r>
            <a:r>
              <a:rPr dirty="0"/>
              <a:t> — Summary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0967" y="1337993"/>
            <a:ext cx="9448495" cy="447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1300" b="1">
                <a:solidFill>
                  <a:srgbClr val="1A1D20"/>
                </a:solidFill>
              </a:defRPr>
            </a:pPr>
            <a:r>
              <a:rPr sz="2000" dirty="0"/>
              <a:t>✅ Actual Code Snippets: Included </a:t>
            </a:r>
            <a:r>
              <a:rPr sz="2000" dirty="0" err="1"/>
              <a:t>farmerDecide</a:t>
            </a:r>
            <a:r>
              <a:rPr sz="2000" dirty="0"/>
              <a:t>(), </a:t>
            </a:r>
            <a:r>
              <a:rPr sz="2000" dirty="0" err="1"/>
              <a:t>parseListingSpeech</a:t>
            </a:r>
            <a:r>
              <a:rPr sz="2000" dirty="0"/>
              <a:t>(), </a:t>
            </a:r>
            <a:r>
              <a:rPr sz="2000" dirty="0" err="1"/>
              <a:t>askGeminiServer</a:t>
            </a:r>
            <a:r>
              <a:rPr sz="2000" dirty="0"/>
              <a:t>(), and </a:t>
            </a:r>
            <a:r>
              <a:rPr sz="2000" dirty="0" err="1"/>
              <a:t>onSnapshot</a:t>
            </a:r>
            <a:r>
              <a:rPr sz="2000" dirty="0"/>
              <a:t> listener.</a:t>
            </a:r>
          </a:p>
          <a:p>
            <a:pPr>
              <a:spcBef>
                <a:spcPts val="800"/>
              </a:spcBef>
              <a:defRPr sz="1300" b="1">
                <a:solidFill>
                  <a:srgbClr val="1A1D20"/>
                </a:solidFill>
              </a:defRPr>
            </a:pPr>
            <a:r>
              <a:rPr sz="2000" dirty="0"/>
              <a:t>✅ Bargaining Logic: 85% floor, 60% hard floor, bulk threshold (qty ≥ 5), and dynamic counter-offers.</a:t>
            </a:r>
          </a:p>
          <a:p>
            <a:pPr>
              <a:spcBef>
                <a:spcPts val="800"/>
              </a:spcBef>
              <a:defRPr sz="1300" b="1">
                <a:solidFill>
                  <a:srgbClr val="1A1D20"/>
                </a:solidFill>
              </a:defRPr>
            </a:pPr>
            <a:r>
              <a:rPr sz="2000" dirty="0"/>
              <a:t>✅ Voice-to-Text Parser: Regional language speech recognition, word number dictionary, &amp; crop alias matching.</a:t>
            </a:r>
          </a:p>
          <a:p>
            <a:pPr>
              <a:spcBef>
                <a:spcPts val="800"/>
              </a:spcBef>
              <a:defRPr sz="1300" b="1">
                <a:solidFill>
                  <a:srgbClr val="1A1D20"/>
                </a:solidFill>
              </a:defRPr>
            </a:pPr>
            <a:r>
              <a:rPr sz="2000" dirty="0"/>
              <a:t>✅ Edge Architecture: React 19 + </a:t>
            </a:r>
            <a:r>
              <a:rPr sz="2000" dirty="0" err="1"/>
              <a:t>TanStack</a:t>
            </a:r>
            <a:r>
              <a:rPr sz="2000" dirty="0"/>
              <a:t> Start on Cloudflare Workers edge nodes.</a:t>
            </a:r>
          </a:p>
          <a:p>
            <a:pPr>
              <a:spcBef>
                <a:spcPts val="800"/>
              </a:spcBef>
              <a:defRPr sz="1300" b="1">
                <a:solidFill>
                  <a:srgbClr val="1A1D20"/>
                </a:solidFill>
              </a:defRPr>
            </a:pPr>
            <a:r>
              <a:rPr sz="2000" dirty="0"/>
              <a:t>✅ Real-Time Database: Firebase </a:t>
            </a:r>
            <a:r>
              <a:rPr sz="2000" dirty="0" err="1"/>
              <a:t>Firestore</a:t>
            </a:r>
            <a:r>
              <a:rPr sz="2000" dirty="0"/>
              <a:t> collections /products, /chats, and /orders.</a:t>
            </a:r>
          </a:p>
          <a:p>
            <a:pPr>
              <a:spcBef>
                <a:spcPts val="800"/>
              </a:spcBef>
              <a:defRPr sz="1300" b="1">
                <a:solidFill>
                  <a:srgbClr val="1A1D20"/>
                </a:solidFill>
              </a:defRPr>
            </a:pPr>
            <a:r>
              <a:rPr sz="2000" dirty="0"/>
              <a:t>✅ Measured Metrics: Sub-300ms FCP, ~45ms Edge response, ~4ms voice parser, 182KB bundle.</a:t>
            </a:r>
          </a:p>
          <a:p>
            <a:pPr>
              <a:spcBef>
                <a:spcPts val="800"/>
              </a:spcBef>
              <a:defRPr sz="1300" b="1">
                <a:solidFill>
                  <a:srgbClr val="1A1D20"/>
                </a:solidFill>
              </a:defRPr>
            </a:pPr>
            <a:r>
              <a:rPr sz="2000" dirty="0"/>
              <a:t>✅ Live Demo Guide: Clear 4-step testing walkthrough for judges on localhost:8080.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3896" y="5987034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4D3E"/>
                </a:solidFill>
              </a:defRPr>
            </a:pPr>
            <a:r>
              <a:rPr dirty="0"/>
              <a:t>Thank you judges! We are ready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3067</Words>
  <Application>Microsoft Office PowerPoint</Application>
  <PresentationFormat>Widescreen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Sha</cp:lastModifiedBy>
  <cp:revision>2</cp:revision>
  <dcterms:created xsi:type="dcterms:W3CDTF">2013-01-27T09:14:16Z</dcterms:created>
  <dcterms:modified xsi:type="dcterms:W3CDTF">2026-09-10T15:11:43Z</dcterms:modified>
  <cp:category/>
</cp:coreProperties>
</file>